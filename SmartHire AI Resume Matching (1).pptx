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Inter"/>
      <p:regular r:id="rId17"/>
      <p:bold r:id="rId18"/>
      <p:italic r:id="rId19"/>
      <p:boldItalic r:id="rId20"/>
    </p:embeddedFont>
    <p:embeddedFont>
      <p:font typeface="Outfit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1" Type="http://schemas.openxmlformats.org/officeDocument/2006/relationships/slide" Target="slides/slide6.xml"/><Relationship Id="rId22" Type="http://schemas.openxmlformats.org/officeDocument/2006/relationships/font" Target="fonts/Outfit-bold.fntdata"/><Relationship Id="rId10" Type="http://schemas.openxmlformats.org/officeDocument/2006/relationships/slide" Target="slides/slide5.xml"/><Relationship Id="rId21" Type="http://schemas.openxmlformats.org/officeDocument/2006/relationships/font" Target="fonts/Outfit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Inter-italic.fntdata"/><Relationship Id="rId6" Type="http://schemas.openxmlformats.org/officeDocument/2006/relationships/slide" Target="slides/slide1.xml"/><Relationship Id="rId18" Type="http://schemas.openxmlformats.org/officeDocument/2006/relationships/font" Target="fonts/Int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41.png"/><Relationship Id="rId5" Type="http://schemas.openxmlformats.org/officeDocument/2006/relationships/image" Target="../media/image17.png"/><Relationship Id="rId6" Type="http://schemas.openxmlformats.org/officeDocument/2006/relationships/image" Target="../media/image14.png"/><Relationship Id="rId7" Type="http://schemas.openxmlformats.org/officeDocument/2006/relationships/image" Target="../media/image2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11" Type="http://schemas.openxmlformats.org/officeDocument/2006/relationships/image" Target="../media/image13.png"/><Relationship Id="rId10" Type="http://schemas.openxmlformats.org/officeDocument/2006/relationships/image" Target="../media/image15.png"/><Relationship Id="rId9" Type="http://schemas.openxmlformats.org/officeDocument/2006/relationships/image" Target="../media/image9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Relationship Id="rId7" Type="http://schemas.openxmlformats.org/officeDocument/2006/relationships/image" Target="../media/image12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1.png"/><Relationship Id="rId6" Type="http://schemas.openxmlformats.org/officeDocument/2006/relationships/image" Target="../media/image4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24.png"/><Relationship Id="rId7" Type="http://schemas.openxmlformats.org/officeDocument/2006/relationships/image" Target="../media/image30.png"/><Relationship Id="rId8" Type="http://schemas.openxmlformats.org/officeDocument/2006/relationships/image" Target="../media/image3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5.png"/><Relationship Id="rId5" Type="http://schemas.openxmlformats.org/officeDocument/2006/relationships/image" Target="../media/image4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0.png"/><Relationship Id="rId5" Type="http://schemas.openxmlformats.org/officeDocument/2006/relationships/image" Target="../media/image23.png"/><Relationship Id="rId6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1.png"/><Relationship Id="rId5" Type="http://schemas.openxmlformats.org/officeDocument/2006/relationships/image" Target="../media/image36.png"/><Relationship Id="rId6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33.png"/><Relationship Id="rId9" Type="http://schemas.openxmlformats.org/officeDocument/2006/relationships/image" Target="../media/image37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39.png"/><Relationship Id="rId8" Type="http://schemas.openxmlformats.org/officeDocument/2006/relationships/image" Target="../media/image3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42.png"/><Relationship Id="rId5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63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2837" y="4191892"/>
            <a:ext cx="4886325" cy="102676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530679" y="2149822"/>
            <a:ext cx="5130641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SmartHire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652837" y="3216622"/>
            <a:ext cx="48863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AI-Powered Resume &amp; Job Matching System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043362" y="4391917"/>
            <a:ext cx="41052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NLP Project - CS3126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043362" y="4744342"/>
            <a:ext cx="410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Pradham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Abhivarun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•Laasya • Akshitha • Lohith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609998"/>
            <a:ext cx="5238750" cy="2969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609998"/>
            <a:ext cx="5238750" cy="296971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333500" y="2475607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Volume Overload: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Companies receive hundreds of resumes for a single open position.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333500" y="3323332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Time Constraint: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HR teams lack the bandwidth to read every resume thoroughly.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333500" y="4171057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Flawed Filters: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Basic keyword search misses good candidates who use different terminology.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333500" y="5018782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Inconsistency: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Manual screening is slow, tiring, and prone to human error.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251370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336143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2500" y="4209157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2500" y="5056882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62000" y="950862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The Problem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71500" y="950862"/>
            <a:ext cx="57150" cy="5715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18457"/>
            <a:ext cx="2547937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87" y="2418457"/>
            <a:ext cx="2547937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418457"/>
            <a:ext cx="2547937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2562" y="2418457"/>
            <a:ext cx="2547937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817840" y="3542407"/>
            <a:ext cx="205525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1. Ingest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66775" y="4066282"/>
            <a:ext cx="19573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Read Job Description and Resume files (PDF/Docx).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3651527" y="3542407"/>
            <a:ext cx="205525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2. Parse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3700462" y="4066282"/>
            <a:ext cx="1957387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Extract skills, education, and experience; clean text.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485215" y="3542407"/>
            <a:ext cx="205525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3. Score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534150" y="4066282"/>
            <a:ext cx="19573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Calculate match metrics across 5 key categories.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9318902" y="3542407"/>
            <a:ext cx="205525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4. Rank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367837" y="4066282"/>
            <a:ext cx="19573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Generate final fit score (0-100) and sort candidates.</a:t>
            </a:r>
            <a:endParaRPr/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16868" y="276135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50556" y="276135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41393" y="2761357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117931" y="276135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762000" y="950862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SmartHire Pipeline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571500" y="950862"/>
            <a:ext cx="57150" cy="5715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58441"/>
            <a:ext cx="5238750" cy="40728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58441"/>
            <a:ext cx="5238750" cy="40728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44896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962025" y="3287166"/>
            <a:ext cx="46805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Job Profile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962025" y="3772941"/>
            <a:ext cx="44577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Input: PDF Description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772275" y="2944266"/>
            <a:ext cx="46805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Candidate Resume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772275" y="3430041"/>
            <a:ext cx="44577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Input: PDF / Word Files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047750" y="436914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152525" y="4369147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Required Skills (e.g., AWS, Python)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047750" y="467394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152525" y="4673947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Years of Experience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047750" y="497874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152525" y="4978747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Education Requirements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047750" y="528354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1152525" y="5283547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Certifications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858000" y="402624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962775" y="4026247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Skills &amp; Tools mentioned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858000" y="433104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962775" y="4331047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Work History &amp; Duration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858000" y="463584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6962775" y="4635847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Degrees &amp; Universities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6858000" y="494064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6962775" y="4940647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Certifications obtained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762000" y="950862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Data Extraction</a:t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571500" y="950862"/>
            <a:ext cx="57150" cy="5715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2190750" y="2508944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Skill Match: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Ratio of candidate skills to required job skills (e.g., 3/7 match).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2190750" y="3051869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Experience Alignment: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Checks if total years meet the minimum requirement (1.0 = meets/exceeds).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2190750" y="3899594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Education Match: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Verifies if degrees and fields of study align with the role.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2190750" y="4442519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Certifications: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Checks for specific required professional certificates.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2190750" y="4985444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Semantic Similarity: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Uses NLP embeddings to measure how similar the resume text is to the JD overall.</a:t>
            </a:r>
            <a:endParaRPr/>
          </a:p>
        </p:txBody>
      </p:sp>
      <p:pic>
        <p:nvPicPr>
          <p:cNvPr descr="image.png" id="170" name="Google Shape;17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547044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089969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937694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480619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09750" y="5023544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762000" y="950862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Scoring Components</a:t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571500" y="950862"/>
            <a:ext cx="57150" cy="5715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03362"/>
            <a:ext cx="11049000" cy="438313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3224212" y="5656957"/>
            <a:ext cx="5743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"Skill match and experience are given the highest importance."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762000" y="950862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Weight Distribution</a:t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571500" y="950862"/>
            <a:ext cx="57150" cy="5715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6625" y="1957875"/>
            <a:ext cx="4689826" cy="356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0" y="2427982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118693"/>
            <a:ext cx="5238750" cy="2914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6381750" y="2499568"/>
            <a:ext cx="550068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Candidate 1</a:t>
            </a:r>
            <a:endParaRPr/>
          </a:p>
        </p:txBody>
      </p:sp>
      <p:pic>
        <p:nvPicPr>
          <p:cNvPr descr="image.png" id="195" name="Google Shape;19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62100" y="2466082"/>
            <a:ext cx="3257550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6610350" y="3537793"/>
            <a:ext cx="48196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Fit Score: 59.39 / 100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610350" y="4132064"/>
            <a:ext cx="48196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Matched: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AWS, Git, NoSQL, SQL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6610350" y="4627364"/>
            <a:ext cx="48196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Missing: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Docker, Kubernetes, Python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6610350" y="5122664"/>
            <a:ext cx="48196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"Strong skill overlap (57%). Experience appears below required level. Education matches requirements."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762000" y="950862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Output: Candidate Profile</a:t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571500" y="950862"/>
            <a:ext cx="57150" cy="5715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6400" y="4411116"/>
            <a:ext cx="8839200" cy="1272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03362"/>
            <a:ext cx="11049000" cy="4383137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1866900" y="4773066"/>
            <a:ext cx="84582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Insight: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Top candidates often have similar scores but different skill gaps. Candidate 2 is stronger on Python but weaker on Git/Kubernetes compared to Candidate 1.</a:t>
            </a:r>
            <a:endParaRPr/>
          </a:p>
        </p:txBody>
      </p:sp>
      <p:pic>
        <p:nvPicPr>
          <p:cNvPr descr="image.png" id="210" name="Google Shape;21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66900" y="482069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762000" y="950862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Candidate Comparison</a:t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571500" y="950862"/>
            <a:ext cx="57150" cy="5715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70857"/>
            <a:ext cx="3492549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570857"/>
            <a:ext cx="3492549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570857"/>
            <a:ext cx="3492549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5074" y="2866132"/>
            <a:ext cx="2901999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794225" y="3694807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Ranked Lists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866775" y="4218682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Instantly see the top 5-10 resumes instead of reading hundreds.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4572524" y="3694807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Deep Insights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4645074" y="4218682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See exactly which skills are matched vs. missing at a glance.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8350824" y="3694807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Efficiency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8423374" y="4218682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Drastically reduces screening time while keeping the "human in the loop".</a:t>
            </a:r>
            <a:endParaRPr/>
          </a:p>
        </p:txBody>
      </p:sp>
      <p:pic>
        <p:nvPicPr>
          <p:cNvPr descr="image.png" id="228" name="Google Shape;228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89100" y="291375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88549" y="291375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762000" y="950862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Benefits for HR</a:t>
            </a:r>
            <a:endParaRPr/>
          </a:p>
        </p:txBody>
      </p:sp>
      <p:sp>
        <p:nvSpPr>
          <p:cNvPr id="231" name="Google Shape;231;p21"/>
          <p:cNvSpPr/>
          <p:nvPr/>
        </p:nvSpPr>
        <p:spPr>
          <a:xfrm>
            <a:off x="571500" y="950862"/>
            <a:ext cx="57150" cy="5715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8575" y="-973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807826" y="2084054"/>
            <a:ext cx="207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Pradham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3170950" y="2130242"/>
            <a:ext cx="197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Project Management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807825" y="2814200"/>
            <a:ext cx="207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Abhivarun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3170962" y="2878742"/>
            <a:ext cx="197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Matching &amp; Scoring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807826" y="3544354"/>
            <a:ext cx="207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Laasya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3170950" y="3584979"/>
            <a:ext cx="197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Integration &amp; CLI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807825" y="4274500"/>
            <a:ext cx="207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Akshitha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3170962" y="4320692"/>
            <a:ext cx="197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Parsing &amp; Preprocessing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762000" y="950862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Team Contributions</a:t>
            </a:r>
            <a:endParaRPr/>
          </a:p>
        </p:txBody>
      </p:sp>
      <p:sp>
        <p:nvSpPr>
          <p:cNvPr id="246" name="Google Shape;246;p22"/>
          <p:cNvSpPr/>
          <p:nvPr/>
        </p:nvSpPr>
        <p:spPr>
          <a:xfrm>
            <a:off x="571500" y="950862"/>
            <a:ext cx="57150" cy="5715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 txBox="1"/>
          <p:nvPr/>
        </p:nvSpPr>
        <p:spPr>
          <a:xfrm>
            <a:off x="1027625" y="5116450"/>
            <a:ext cx="1579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 txBox="1"/>
          <p:nvPr/>
        </p:nvSpPr>
        <p:spPr>
          <a:xfrm>
            <a:off x="807825" y="5004650"/>
            <a:ext cx="207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Lohith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3170962" y="5056417"/>
            <a:ext cx="197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Testing &amp; Output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3"/>
          <p:cNvSpPr txBox="1"/>
          <p:nvPr/>
        </p:nvSpPr>
        <p:spPr>
          <a:xfrm>
            <a:off x="762000" y="1141362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Conclusion</a:t>
            </a:r>
            <a:endParaRPr/>
          </a:p>
        </p:txBody>
      </p:sp>
      <p:sp>
        <p:nvSpPr>
          <p:cNvPr id="256" name="Google Shape;256;p23"/>
          <p:cNvSpPr/>
          <p:nvPr/>
        </p:nvSpPr>
        <p:spPr>
          <a:xfrm>
            <a:off x="571500" y="1141362"/>
            <a:ext cx="57150" cy="5715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7" name="Google Shape;25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571500" y="2284362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SmartHire automates the initial screening bottleneck by reading resumes like a human would—focusing on context, skills, and experience rather than just keywords.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571500" y="3884562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Key Outcome: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transparent, consistent, and efficient scoring system that empowers HR to make better hiring decisions faster.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571500" y="5465712"/>
            <a:ext cx="2085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Consistent Ranking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571500" y="5961012"/>
            <a:ext cx="2085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Transparent Scoring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571500" y="6456312"/>
            <a:ext cx="2085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Human-Centric AI</a:t>
            </a:r>
            <a:endParaRPr/>
          </a:p>
        </p:txBody>
      </p:sp>
      <p:pic>
        <p:nvPicPr>
          <p:cNvPr descr="image.png" id="263" name="Google Shape;26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52286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01816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513462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